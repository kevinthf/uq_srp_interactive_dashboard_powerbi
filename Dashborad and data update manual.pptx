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83" r:id="rId4"/>
    <p:sldId id="262" r:id="rId5"/>
    <p:sldId id="258" r:id="rId6"/>
    <p:sldId id="261" r:id="rId7"/>
    <p:sldId id="263" r:id="rId8"/>
    <p:sldId id="264" r:id="rId9"/>
    <p:sldId id="265" r:id="rId10"/>
    <p:sldId id="259" r:id="rId11"/>
    <p:sldId id="267" r:id="rId12"/>
    <p:sldId id="275" r:id="rId13"/>
    <p:sldId id="279" r:id="rId14"/>
    <p:sldId id="280" r:id="rId15"/>
    <p:sldId id="273" r:id="rId16"/>
    <p:sldId id="284" r:id="rId17"/>
    <p:sldId id="270" r:id="rId18"/>
    <p:sldId id="271" r:id="rId19"/>
    <p:sldId id="272" r:id="rId20"/>
    <p:sldId id="281" r:id="rId21"/>
    <p:sldId id="282" r:id="rId22"/>
    <p:sldId id="266" r:id="rId23"/>
    <p:sldId id="268" r:id="rId24"/>
    <p:sldId id="269" r:id="rId25"/>
    <p:sldId id="274" r:id="rId26"/>
    <p:sldId id="285" r:id="rId27"/>
    <p:sldId id="278" r:id="rId2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74AFF902-4939-4D0B-BB4B-5FB57A990BE3}">
          <p14:sldIdLst>
            <p14:sldId id="256"/>
            <p14:sldId id="257"/>
          </p14:sldIdLst>
        </p14:section>
        <p14:section name="Dashboard operation" id="{2C57E06A-1C69-48B1-801A-A76956C92939}">
          <p14:sldIdLst>
            <p14:sldId id="283"/>
            <p14:sldId id="262"/>
            <p14:sldId id="258"/>
            <p14:sldId id="261"/>
            <p14:sldId id="263"/>
            <p14:sldId id="264"/>
            <p14:sldId id="265"/>
            <p14:sldId id="259"/>
            <p14:sldId id="267"/>
            <p14:sldId id="275"/>
            <p14:sldId id="279"/>
            <p14:sldId id="280"/>
            <p14:sldId id="273"/>
          </p14:sldIdLst>
        </p14:section>
        <p14:section name="How to update data" id="{04D9641D-6CAC-485E-A72C-938795DB319E}">
          <p14:sldIdLst>
            <p14:sldId id="284"/>
            <p14:sldId id="270"/>
            <p14:sldId id="271"/>
            <p14:sldId id="272"/>
            <p14:sldId id="281"/>
            <p14:sldId id="282"/>
            <p14:sldId id="266"/>
            <p14:sldId id="268"/>
            <p14:sldId id="269"/>
            <p14:sldId id="274"/>
          </p14:sldIdLst>
        </p14:section>
        <p14:section name="Publish dashboard" id="{BC1B7569-2DDC-4AA2-9805-9459B1FDEAC1}">
          <p14:sldIdLst>
            <p14:sldId id="285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4C5904-37A3-4131-AB38-9BB7EC2C9A29}" type="datetimeFigureOut">
              <a:rPr lang="zh-TW" altLang="en-US" smtClean="0"/>
              <a:t>2026/2/12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8E06FA-7E5D-406B-8D83-C18EF666AA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3041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8E06FA-7E5D-406B-8D83-C18EF666AADC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7230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A250C8-A9A8-4275-5A6D-76E677DB1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67F27EE-2863-8B9B-28F4-64288CA8B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B16811-E8E6-CF79-B65A-40AA43E71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8A9CC-A1BE-484E-ADCD-970F516AB9CC}" type="datetimeFigureOut">
              <a:rPr lang="zh-TW" altLang="en-US" smtClean="0"/>
              <a:t>2026/2/12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EA8AF3-DAF0-DF9E-89E3-F0F06B892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F173692-6476-55F2-B463-6706E6A9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E6CE9-319E-40E1-81B4-EDB6FC8F7A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6084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12F692-4F3D-43A9-1982-37903441A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5BE503-E701-C661-889A-6F0AAA8DC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CF6C088-F23F-FEEF-B691-9D61C7EA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8A9CC-A1BE-484E-ADCD-970F516AB9CC}" type="datetimeFigureOut">
              <a:rPr lang="zh-TW" altLang="en-US" smtClean="0"/>
              <a:t>2026/2/12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4A50955-E06B-04D1-B4E0-559FAE707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BA8714B-86C1-7913-6BB0-5ED3A0BE2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E6CE9-319E-40E1-81B4-EDB6FC8F7A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322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763110-A8AF-0295-FC4D-EB8CB0AF8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F6861EF-86C5-8A69-C46A-5D7B9DF1D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C6941E-9663-732D-5920-5590B988E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8A9CC-A1BE-484E-ADCD-970F516AB9CC}" type="datetimeFigureOut">
              <a:rPr lang="zh-TW" altLang="en-US" smtClean="0"/>
              <a:t>2026/2/12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4E5AF55-D79C-CDD6-4630-49469F800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2FC391-D0B1-C4FA-C5A1-D8EBAF924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E6CE9-319E-40E1-81B4-EDB6FC8F7A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075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B3A6F7-4CCB-330A-7862-F898AD923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BCB2CF-F7F0-90A1-2F16-CE4F02A300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D5FA568-4085-FFBC-172E-B9E0A4034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614587A-F092-5805-6125-F4C58662C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8A9CC-A1BE-484E-ADCD-970F516AB9CC}" type="datetimeFigureOut">
              <a:rPr lang="zh-TW" altLang="en-US" smtClean="0"/>
              <a:t>2026/2/12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8DA581A-DD8E-B37C-DF33-BFABAB708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6822DB-EB1C-5DD7-ABEF-950AD53BB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E6CE9-319E-40E1-81B4-EDB6FC8F7A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2975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1F9B2B-44BF-7E57-D847-5FB7E9653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0BEA4F1-C7CA-9885-7C42-DFC6D89D6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4C8647C-A728-755F-9D51-0F298E31A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76CC8E4-4890-23A7-61EF-849DEBC428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7B8295D-CACC-A806-BA0B-5E7724E017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F9BD9ED-0184-F66F-114B-EB814BD66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8A9CC-A1BE-484E-ADCD-970F516AB9CC}" type="datetimeFigureOut">
              <a:rPr lang="zh-TW" altLang="en-US" smtClean="0"/>
              <a:t>2026/2/12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9C039E8-260F-1C69-85EC-BF6B974BC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728EA80-EFAD-51D1-8FA3-87A38B5E3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E6CE9-319E-40E1-81B4-EDB6FC8F7A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9439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CDF626-297A-CA54-B2B9-AC9962A79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AC70064-7BC9-C522-B4FF-10542FA08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8A9CC-A1BE-484E-ADCD-970F516AB9CC}" type="datetimeFigureOut">
              <a:rPr lang="zh-TW" altLang="en-US" smtClean="0"/>
              <a:t>2026/2/12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C9C650B-F176-B0C7-6D21-C2A47A630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BB78443-A21C-4F54-BAEC-CCD2AD374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E6CE9-319E-40E1-81B4-EDB6FC8F7A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6810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56C4ADD-9063-FAD1-63E5-18EA60BF9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8A9CC-A1BE-484E-ADCD-970F516AB9CC}" type="datetimeFigureOut">
              <a:rPr lang="zh-TW" altLang="en-US" smtClean="0"/>
              <a:t>2026/2/12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249A32D-B580-7630-64F0-805FE8F6B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0BB544-DFA0-5E8F-1A5D-C8D84E66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E6CE9-319E-40E1-81B4-EDB6FC8F7A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8508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5C218E-0FC8-6474-6E83-EB826D8A8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0167DE-2D57-6640-1159-E36E54255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EC68F0B-D70E-AED7-7F66-D2B1ADAFD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8A2FACF-8992-529E-74AD-9521E6670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8A9CC-A1BE-484E-ADCD-970F516AB9CC}" type="datetimeFigureOut">
              <a:rPr lang="zh-TW" altLang="en-US" smtClean="0"/>
              <a:t>2026/2/12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4DB2AF5-0B5E-CC5F-58D0-97F6E5A4D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8D5B363-5395-AF22-B469-7BCE10345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E6CE9-319E-40E1-81B4-EDB6FC8F7A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9126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15BDD0-B90D-E97F-01BE-B5AB2F4BF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FD3F91B-128C-65F1-1DAD-9E05E724A0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D58306E-5513-B082-35AE-2DD1FC448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2BCDBE0-C513-3D17-97D2-FFD036511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8A9CC-A1BE-484E-ADCD-970F516AB9CC}" type="datetimeFigureOut">
              <a:rPr lang="zh-TW" altLang="en-US" smtClean="0"/>
              <a:t>2026/2/12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1EDA97A-723D-2F16-EFD3-B627D5E9A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32AD543-3D6B-D75A-71C6-CDB94D584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E6CE9-319E-40E1-81B4-EDB6FC8F7A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5065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7FAA73-AB57-6B86-4675-3499A116D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2A10464-128C-F3B7-7ECD-64E1AB1FD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6AB747-65F2-7C7E-AB11-B00583AC6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8A9CC-A1BE-484E-ADCD-970F516AB9CC}" type="datetimeFigureOut">
              <a:rPr lang="zh-TW" altLang="en-US" smtClean="0"/>
              <a:t>2026/2/12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359324-5269-CE09-79A9-DDF892751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C119A86-930E-BDC8-2B3E-10B1FD096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E6CE9-319E-40E1-81B4-EDB6FC8F7A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3646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1D88FA0-2A5A-A266-4996-FD7748ADAA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831FC5B-1D16-29CD-C228-E4BA7F994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C93283-E5B6-AD90-4540-8BAC3EE47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8A9CC-A1BE-484E-ADCD-970F516AB9CC}" type="datetimeFigureOut">
              <a:rPr lang="zh-TW" altLang="en-US" smtClean="0"/>
              <a:t>2026/2/12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DC85AC-B4E0-8F36-CB0F-D5725C5CB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329F283-31F7-98CE-248A-99E460FDC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E6CE9-319E-40E1-81B4-EDB6FC8F7A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097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B33F6AB-742E-36E9-7658-224304AAF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EB4E2B7-51E2-C1AA-F7C3-11F669C80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C2E434-AB28-9C59-AD3E-A98A5D89DE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8A9CC-A1BE-484E-ADCD-970F516AB9CC}" type="datetimeFigureOut">
              <a:rPr lang="zh-TW" altLang="en-US" smtClean="0"/>
              <a:t>2026/2/12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F5048E-191E-DC9B-3625-1D7AB73E24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390BACE-1F5E-A357-2147-17FDF0AB64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E6CE9-319E-40E1-81B4-EDB6FC8F7A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2614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AC4C2E-09AB-0DAB-99C5-D8E56A54AC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NPS Dashboard </a:t>
            </a:r>
            <a:br>
              <a:rPr lang="en-US" altLang="zh-TW" dirty="0"/>
            </a:br>
            <a:r>
              <a:rPr lang="en-US" altLang="zh-TW" dirty="0"/>
              <a:t>and data update manual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63037B0-1E9A-37EE-D7D0-372D83F723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17294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F2A10B-6651-EE3A-F23F-8D6BA8266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475B5A-A91A-29D7-8F47-79317FFEC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Dashboard operation</a:t>
            </a:r>
          </a:p>
          <a:p>
            <a:endParaRPr lang="en-US" altLang="zh-TW" dirty="0"/>
          </a:p>
          <a:p>
            <a:r>
              <a:rPr lang="en-US" altLang="zh-TW" dirty="0"/>
              <a:t>How to update data</a:t>
            </a:r>
          </a:p>
          <a:p>
            <a:endParaRPr lang="en-US" altLang="zh-TW" dirty="0"/>
          </a:p>
          <a:p>
            <a:r>
              <a:rPr lang="en-US" altLang="zh-TW" dirty="0"/>
              <a:t>Publish Dashboard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97260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9878A3-E39A-7CD0-F106-EF6FEFBDA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Dashboard operation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CF87082-48DE-89D6-B26A-89CEBEF97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4662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5DB26-E883-648B-0DE4-768ED627C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A8E5E6-7DDA-6AC4-717C-B65456E43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Dashboard Interface (Page 1)</a:t>
            </a:r>
            <a:endParaRPr lang="zh-TW" altLang="en-US" dirty="0"/>
          </a:p>
        </p:txBody>
      </p:sp>
      <p:pic>
        <p:nvPicPr>
          <p:cNvPr id="5" name="內容版面配置區 4" descr="一張含有 文字, 螢幕擷取畫面, 地圖, 圖表 的圖片&#10;&#10;AI 產生的內容可能不正確。">
            <a:extLst>
              <a:ext uri="{FF2B5EF4-FFF2-40B4-BE49-F238E27FC236}">
                <a16:creationId xmlns:a16="http://schemas.microsoft.com/office/drawing/2014/main" id="{D81A3071-5CE3-90CF-B763-5803B9630B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649" y="1265451"/>
            <a:ext cx="8383881" cy="535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300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4D5772-08C1-D3FE-57E7-B99137C17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Dashboard Interface (Page 1)</a:t>
            </a:r>
            <a:endParaRPr lang="zh-TW" altLang="en-US" dirty="0"/>
          </a:p>
        </p:txBody>
      </p:sp>
      <p:pic>
        <p:nvPicPr>
          <p:cNvPr id="5" name="內容版面配置區 4" descr="一張含有 文字, 螢幕擷取畫面, 地圖, 圖表 的圖片&#10;&#10;AI 產生的內容可能不正確。">
            <a:extLst>
              <a:ext uri="{FF2B5EF4-FFF2-40B4-BE49-F238E27FC236}">
                <a16:creationId xmlns:a16="http://schemas.microsoft.com/office/drawing/2014/main" id="{6A3EA7FE-BC20-8A38-6064-C7D4291447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649" y="1265451"/>
            <a:ext cx="8383881" cy="535191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2D5072A-3C8F-BCBF-9097-C1AC5C86DA46}"/>
              </a:ext>
            </a:extLst>
          </p:cNvPr>
          <p:cNvSpPr/>
          <p:nvPr/>
        </p:nvSpPr>
        <p:spPr>
          <a:xfrm>
            <a:off x="4085968" y="1265451"/>
            <a:ext cx="4493562" cy="5351919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44E3132-9F8F-77C7-5D77-C974E4C7EC9C}"/>
              </a:ext>
            </a:extLst>
          </p:cNvPr>
          <p:cNvSpPr/>
          <p:nvPr/>
        </p:nvSpPr>
        <p:spPr>
          <a:xfrm>
            <a:off x="131806" y="3995352"/>
            <a:ext cx="3954162" cy="2622018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1301A320-3F93-4E0F-CDCA-F7A1F3217264}"/>
              </a:ext>
            </a:extLst>
          </p:cNvPr>
          <p:cNvSpPr txBox="1">
            <a:spLocks/>
          </p:cNvSpPr>
          <p:nvPr/>
        </p:nvSpPr>
        <p:spPr>
          <a:xfrm>
            <a:off x="6227806" y="2833816"/>
            <a:ext cx="5669692" cy="31536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u="sng" dirty="0"/>
              <a:t>Participated Countries</a:t>
            </a:r>
          </a:p>
          <a:p>
            <a:pPr marL="0" indent="0">
              <a:buNone/>
            </a:pPr>
            <a:r>
              <a:rPr lang="en-US" altLang="zh-TW" sz="2400" dirty="0"/>
              <a:t>Showing the countries which provided the wastewater samples for NPS analyze in each year</a:t>
            </a:r>
            <a:endParaRPr lang="en-US" altLang="zh-TW" sz="2000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92958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EA882-2612-8C77-C10E-46D6F37A9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165D08-5E1D-4435-2C1F-22A23284B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Dashboard Interface (Page 1)</a:t>
            </a:r>
            <a:endParaRPr lang="zh-TW" altLang="en-US" dirty="0"/>
          </a:p>
        </p:txBody>
      </p:sp>
      <p:pic>
        <p:nvPicPr>
          <p:cNvPr id="5" name="內容版面配置區 4" descr="一張含有 文字, 螢幕擷取畫面, 地圖, 圖表 的圖片&#10;&#10;AI 產生的內容可能不正確。">
            <a:extLst>
              <a:ext uri="{FF2B5EF4-FFF2-40B4-BE49-F238E27FC236}">
                <a16:creationId xmlns:a16="http://schemas.microsoft.com/office/drawing/2014/main" id="{B53C28AA-0D17-DE31-0692-940A9C5E12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649" y="1265451"/>
            <a:ext cx="8383881" cy="535191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B55D319-8079-6B9F-356C-E7F208478E39}"/>
              </a:ext>
            </a:extLst>
          </p:cNvPr>
          <p:cNvSpPr/>
          <p:nvPr/>
        </p:nvSpPr>
        <p:spPr>
          <a:xfrm>
            <a:off x="4085968" y="1265451"/>
            <a:ext cx="4493562" cy="5351919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79C1F4-EA07-4A8B-8D68-D6E157396AB3}"/>
              </a:ext>
            </a:extLst>
          </p:cNvPr>
          <p:cNvSpPr/>
          <p:nvPr/>
        </p:nvSpPr>
        <p:spPr>
          <a:xfrm>
            <a:off x="2257168" y="3995352"/>
            <a:ext cx="1828800" cy="2622018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F0DE2E-7810-5CE1-42E6-09A4A468B94B}"/>
              </a:ext>
            </a:extLst>
          </p:cNvPr>
          <p:cNvSpPr/>
          <p:nvPr/>
        </p:nvSpPr>
        <p:spPr>
          <a:xfrm>
            <a:off x="131806" y="1319392"/>
            <a:ext cx="3954162" cy="2675960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97453AB2-5767-2F2E-3DCE-245E4696D62F}"/>
              </a:ext>
            </a:extLst>
          </p:cNvPr>
          <p:cNvSpPr txBox="1">
            <a:spLocks/>
          </p:cNvSpPr>
          <p:nvPr/>
        </p:nvSpPr>
        <p:spPr>
          <a:xfrm>
            <a:off x="6380206" y="2986216"/>
            <a:ext cx="5669692" cy="31536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u="sng" dirty="0"/>
              <a:t>Data Slicer</a:t>
            </a:r>
          </a:p>
          <a:p>
            <a:pPr marL="0" indent="0">
              <a:buNone/>
            </a:pPr>
            <a:r>
              <a:rPr lang="en-US" altLang="zh-TW" sz="2400" dirty="0"/>
              <a:t>Filter the data of interest based on:</a:t>
            </a:r>
          </a:p>
          <a:p>
            <a:r>
              <a:rPr lang="en-US" altLang="zh-TW" sz="2000" dirty="0"/>
              <a:t>Christmas Year holiday (Single selection only)</a:t>
            </a:r>
          </a:p>
          <a:p>
            <a:r>
              <a:rPr lang="en-US" altLang="zh-TW" sz="2000" dirty="0"/>
              <a:t>Continent &amp; Country</a:t>
            </a:r>
          </a:p>
          <a:p>
            <a:r>
              <a:rPr lang="en-US" altLang="zh-TW" sz="2000" dirty="0"/>
              <a:t>Drug Class by UNDOC Effect</a:t>
            </a:r>
          </a:p>
          <a:p>
            <a:r>
              <a:rPr lang="en-US" altLang="zh-TW" sz="2000" dirty="0"/>
              <a:t>Drug type in alphabet order</a:t>
            </a:r>
            <a:endParaRPr lang="en-US" altLang="zh-TW" sz="1800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2C8D8A5-9EB6-4023-7796-007DDB85342B}"/>
              </a:ext>
            </a:extLst>
          </p:cNvPr>
          <p:cNvSpPr/>
          <p:nvPr/>
        </p:nvSpPr>
        <p:spPr>
          <a:xfrm>
            <a:off x="142102" y="5877697"/>
            <a:ext cx="2115066" cy="739673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16747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76BA0-E18D-052E-ACF0-2CC857141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FEF477-510E-FDD8-CA83-BCC329094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Dashboard Interface (Page 1)</a:t>
            </a:r>
            <a:endParaRPr lang="zh-TW" altLang="en-US" dirty="0"/>
          </a:p>
        </p:txBody>
      </p:sp>
      <p:pic>
        <p:nvPicPr>
          <p:cNvPr id="5" name="內容版面配置區 4" descr="一張含有 文字, 螢幕擷取畫面, 地圖, 圖表 的圖片&#10;&#10;AI 產生的內容可能不正確。">
            <a:extLst>
              <a:ext uri="{FF2B5EF4-FFF2-40B4-BE49-F238E27FC236}">
                <a16:creationId xmlns:a16="http://schemas.microsoft.com/office/drawing/2014/main" id="{4FF8E640-2DB2-593C-75ED-9DD6E185D1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649" y="1265451"/>
            <a:ext cx="8383881" cy="535191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134352D-C3F1-5238-CE64-ACC0AA702F21}"/>
              </a:ext>
            </a:extLst>
          </p:cNvPr>
          <p:cNvSpPr/>
          <p:nvPr/>
        </p:nvSpPr>
        <p:spPr>
          <a:xfrm>
            <a:off x="6005383" y="1265451"/>
            <a:ext cx="2637989" cy="272990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C2A0A7-956D-354C-BB29-452351ED2633}"/>
              </a:ext>
            </a:extLst>
          </p:cNvPr>
          <p:cNvSpPr/>
          <p:nvPr/>
        </p:nvSpPr>
        <p:spPr>
          <a:xfrm>
            <a:off x="195649" y="3995352"/>
            <a:ext cx="8569410" cy="2622018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9821A6-9C6A-D7CC-C269-A2BFA948BC58}"/>
              </a:ext>
            </a:extLst>
          </p:cNvPr>
          <p:cNvSpPr/>
          <p:nvPr/>
        </p:nvSpPr>
        <p:spPr>
          <a:xfrm>
            <a:off x="131806" y="1319392"/>
            <a:ext cx="3954162" cy="2675960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945B8FC0-0E1E-DFD2-AC6D-919A325F006F}"/>
              </a:ext>
            </a:extLst>
          </p:cNvPr>
          <p:cNvSpPr txBox="1">
            <a:spLocks/>
          </p:cNvSpPr>
          <p:nvPr/>
        </p:nvSpPr>
        <p:spPr>
          <a:xfrm>
            <a:off x="6096000" y="2986216"/>
            <a:ext cx="5953898" cy="31536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u="sng" dirty="0"/>
              <a:t>Gauge Indicator</a:t>
            </a:r>
          </a:p>
          <a:p>
            <a:pPr marL="0" indent="0">
              <a:buNone/>
            </a:pPr>
            <a:r>
              <a:rPr lang="en-US" altLang="zh-TW" sz="2400" dirty="0"/>
              <a:t>Showing the proportion of:</a:t>
            </a:r>
          </a:p>
          <a:p>
            <a:r>
              <a:rPr lang="en-US" altLang="zh-TW" sz="2000" dirty="0"/>
              <a:t>Sites with drug presence</a:t>
            </a:r>
          </a:p>
          <a:p>
            <a:r>
              <a:rPr lang="en-US" altLang="zh-TW" sz="2000" dirty="0"/>
              <a:t>Detected drug types</a:t>
            </a:r>
          </a:p>
          <a:p>
            <a:r>
              <a:rPr lang="en-US" altLang="zh-TW" sz="2000" dirty="0"/>
              <a:t>Dates with drug presence over the sampling period</a:t>
            </a:r>
          </a:p>
          <a:p>
            <a:endParaRPr lang="en-US" altLang="zh-TW" sz="1800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78726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93626-7515-7BF3-7FA8-69FEA4813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773AFE-D6D0-B784-1B81-CC6EC28EB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Dashboard Interface (Page 1)</a:t>
            </a:r>
            <a:endParaRPr lang="zh-TW" altLang="en-US" dirty="0"/>
          </a:p>
        </p:txBody>
      </p:sp>
      <p:pic>
        <p:nvPicPr>
          <p:cNvPr id="5" name="內容版面配置區 4" descr="一張含有 文字, 螢幕擷取畫面, 地圖, 圖表 的圖片&#10;&#10;AI 產生的內容可能不正確。">
            <a:extLst>
              <a:ext uri="{FF2B5EF4-FFF2-40B4-BE49-F238E27FC236}">
                <a16:creationId xmlns:a16="http://schemas.microsoft.com/office/drawing/2014/main" id="{C7F0D293-7A5B-5121-37F0-BFE868427E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649" y="1265451"/>
            <a:ext cx="8383881" cy="535191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0891AF1-0D85-7DD7-79C0-62D7BAC9E30B}"/>
              </a:ext>
            </a:extLst>
          </p:cNvPr>
          <p:cNvSpPr/>
          <p:nvPr/>
        </p:nvSpPr>
        <p:spPr>
          <a:xfrm>
            <a:off x="4085969" y="1310759"/>
            <a:ext cx="1787610" cy="272990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62F3011-553D-99BB-C8A1-AEBADC78A7AB}"/>
              </a:ext>
            </a:extLst>
          </p:cNvPr>
          <p:cNvSpPr/>
          <p:nvPr/>
        </p:nvSpPr>
        <p:spPr>
          <a:xfrm>
            <a:off x="195649" y="3995352"/>
            <a:ext cx="8569410" cy="2622018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EBE2CD-297B-F5B9-CBAA-0EDA86E537DF}"/>
              </a:ext>
            </a:extLst>
          </p:cNvPr>
          <p:cNvSpPr/>
          <p:nvPr/>
        </p:nvSpPr>
        <p:spPr>
          <a:xfrm>
            <a:off x="131806" y="1319392"/>
            <a:ext cx="3954162" cy="2675960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0BD65317-6DFB-D969-4E64-EA5FDE1D88B0}"/>
              </a:ext>
            </a:extLst>
          </p:cNvPr>
          <p:cNvSpPr txBox="1">
            <a:spLocks/>
          </p:cNvSpPr>
          <p:nvPr/>
        </p:nvSpPr>
        <p:spPr>
          <a:xfrm>
            <a:off x="6106296" y="4085968"/>
            <a:ext cx="5953898" cy="24967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u="sng" dirty="0"/>
              <a:t>Detected drug types bar chart</a:t>
            </a:r>
          </a:p>
          <a:p>
            <a:pPr marL="0" indent="0">
              <a:buNone/>
            </a:pPr>
            <a:r>
              <a:rPr lang="en-US" altLang="zh-TW" sz="2400" dirty="0"/>
              <a:t>Showing detected incidents of each drug, including quantified or detected but not quantified </a:t>
            </a:r>
            <a:endParaRPr lang="en-US" altLang="zh-TW" sz="1800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7544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EF3C0-D4FA-D076-0E47-6E5120BF4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A4AAF8-0FF4-5172-6CC7-A3DBD5F43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Dashboard Interface (Page 1)</a:t>
            </a:r>
            <a:endParaRPr lang="zh-TW" altLang="en-US" dirty="0"/>
          </a:p>
        </p:txBody>
      </p:sp>
      <p:pic>
        <p:nvPicPr>
          <p:cNvPr id="5" name="內容版面配置區 4" descr="一張含有 文字, 螢幕擷取畫面, 地圖, 圖表 的圖片&#10;&#10;AI 產生的內容可能不正確。">
            <a:extLst>
              <a:ext uri="{FF2B5EF4-FFF2-40B4-BE49-F238E27FC236}">
                <a16:creationId xmlns:a16="http://schemas.microsoft.com/office/drawing/2014/main" id="{1BC4512A-2AE4-3575-638B-BC007CC938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649" y="1265451"/>
            <a:ext cx="8383881" cy="535191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FDA4D23-ED98-A087-5D91-0F29158756F4}"/>
              </a:ext>
            </a:extLst>
          </p:cNvPr>
          <p:cNvSpPr/>
          <p:nvPr/>
        </p:nvSpPr>
        <p:spPr>
          <a:xfrm>
            <a:off x="4085969" y="1310759"/>
            <a:ext cx="4557404" cy="272990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6B5BDA3-AFCC-5FC3-D006-BF606EC17FCB}"/>
              </a:ext>
            </a:extLst>
          </p:cNvPr>
          <p:cNvSpPr/>
          <p:nvPr/>
        </p:nvSpPr>
        <p:spPr>
          <a:xfrm>
            <a:off x="195649" y="3995352"/>
            <a:ext cx="2003854" cy="2622018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FA80C3-E031-34D8-19EF-50D681CC3B82}"/>
              </a:ext>
            </a:extLst>
          </p:cNvPr>
          <p:cNvSpPr/>
          <p:nvPr/>
        </p:nvSpPr>
        <p:spPr>
          <a:xfrm>
            <a:off x="131806" y="1319392"/>
            <a:ext cx="3954162" cy="2675960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028B48F7-1752-8FF2-6C98-5E9B857F8EA2}"/>
              </a:ext>
            </a:extLst>
          </p:cNvPr>
          <p:cNvSpPr txBox="1">
            <a:spLocks/>
          </p:cNvSpPr>
          <p:nvPr/>
        </p:nvSpPr>
        <p:spPr>
          <a:xfrm>
            <a:off x="5873401" y="1342659"/>
            <a:ext cx="5953898" cy="24967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u="sng" dirty="0"/>
              <a:t>Time series of mass load (single year)</a:t>
            </a:r>
          </a:p>
          <a:p>
            <a:pPr marL="0" indent="0">
              <a:buNone/>
            </a:pPr>
            <a:r>
              <a:rPr lang="en-US" altLang="zh-TW" sz="2400" dirty="0"/>
              <a:t>Showing  the quantified average of drug mass load of each country</a:t>
            </a:r>
            <a:endParaRPr lang="en-US" altLang="zh-TW" sz="1800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EA1610-8C64-D30E-E7A4-B0B7BA7DF2D1}"/>
              </a:ext>
            </a:extLst>
          </p:cNvPr>
          <p:cNvSpPr/>
          <p:nvPr/>
        </p:nvSpPr>
        <p:spPr>
          <a:xfrm>
            <a:off x="2199502" y="6125228"/>
            <a:ext cx="6540843" cy="591392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89409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18F998-19B0-0011-FC25-30DDAD22E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Dashboard Interface (Page 2)</a:t>
            </a:r>
            <a:endParaRPr lang="zh-TW" altLang="en-US" dirty="0"/>
          </a:p>
        </p:txBody>
      </p:sp>
      <p:pic>
        <p:nvPicPr>
          <p:cNvPr id="5" name="內容版面配置區 4" descr="一張含有 文字, 螢幕擷取畫面, 軟體, 陳列 的圖片&#10;&#10;AI 產生的內容可能不正確。">
            <a:extLst>
              <a:ext uri="{FF2B5EF4-FFF2-40B4-BE49-F238E27FC236}">
                <a16:creationId xmlns:a16="http://schemas.microsoft.com/office/drawing/2014/main" id="{0FC889EB-4733-B4A5-648F-9A2F124F77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285" y="1314878"/>
            <a:ext cx="8410779" cy="537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80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3EBFB-1422-6823-E4CE-40687F8C7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63B198-AC58-8769-BBEE-946803E63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Dashboard Interface (Page 2)</a:t>
            </a:r>
            <a:endParaRPr lang="zh-TW" altLang="en-US" dirty="0"/>
          </a:p>
        </p:txBody>
      </p:sp>
      <p:pic>
        <p:nvPicPr>
          <p:cNvPr id="5" name="內容版面配置區 4" descr="一張含有 文字, 螢幕擷取畫面, 軟體, 陳列 的圖片&#10;&#10;AI 產生的內容可能不正確。">
            <a:extLst>
              <a:ext uri="{FF2B5EF4-FFF2-40B4-BE49-F238E27FC236}">
                <a16:creationId xmlns:a16="http://schemas.microsoft.com/office/drawing/2014/main" id="{56D631FA-3A92-19DD-7610-DF31C911C7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285" y="1314878"/>
            <a:ext cx="8410779" cy="5378643"/>
          </a:xfrm>
          <a:prstGeom prst="rect">
            <a:avLst/>
          </a:prstGeom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730F7AE5-8FE9-2A0C-A514-A885C6DCFFE7}"/>
              </a:ext>
            </a:extLst>
          </p:cNvPr>
          <p:cNvSpPr txBox="1">
            <a:spLocks/>
          </p:cNvSpPr>
          <p:nvPr/>
        </p:nvSpPr>
        <p:spPr>
          <a:xfrm>
            <a:off x="5609968" y="4069492"/>
            <a:ext cx="6268993" cy="24967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u="sng" dirty="0"/>
              <a:t>Time series of mass load (multiple years)</a:t>
            </a:r>
          </a:p>
          <a:p>
            <a:pPr marL="0" indent="0">
              <a:buNone/>
            </a:pPr>
            <a:r>
              <a:rPr lang="en-US" altLang="zh-TW" sz="2400" dirty="0"/>
              <a:t>Showing  the quantified average of drug mass load of each country or continent based on data slicer</a:t>
            </a:r>
            <a:endParaRPr lang="en-US" altLang="zh-TW" sz="1800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99677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CEE2F5-B4D6-35FA-29B0-BA861C370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Methods to select specific country  </a:t>
            </a:r>
            <a:endParaRPr lang="zh-TW" altLang="en-US" dirty="0"/>
          </a:p>
        </p:txBody>
      </p:sp>
      <p:pic>
        <p:nvPicPr>
          <p:cNvPr id="5" name="內容版面配置區 4" descr="一張含有 文字, 圖表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262C0DFF-52EB-49D4-0E75-4505D115F6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17020" y="1690688"/>
            <a:ext cx="7774980" cy="4351338"/>
          </a:xfrm>
          <a:prstGeom prst="rect">
            <a:avLst/>
          </a:prstGeom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4C5FD969-BC92-D903-D1AE-AB44FDAE050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624DACD0-C536-DD89-FC32-0504C148FBBC}"/>
              </a:ext>
            </a:extLst>
          </p:cNvPr>
          <p:cNvSpPr txBox="1">
            <a:spLocks/>
          </p:cNvSpPr>
          <p:nvPr/>
        </p:nvSpPr>
        <p:spPr>
          <a:xfrm>
            <a:off x="253313" y="1690688"/>
            <a:ext cx="4088027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Method 1 --</a:t>
            </a:r>
            <a:br>
              <a:rPr lang="en-US" altLang="zh-TW" dirty="0"/>
            </a:br>
            <a:r>
              <a:rPr lang="en-US" altLang="zh-TW" dirty="0"/>
              <a:t>Select by data slicer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Map zoom into the </a:t>
            </a:r>
            <a:br>
              <a:rPr lang="en-US" altLang="zh-TW" dirty="0"/>
            </a:br>
            <a:r>
              <a:rPr lang="en-US" altLang="zh-TW" dirty="0"/>
              <a:t>selected country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Line chart and bar char display the selected country only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Gauge indicators automatically display the selected country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Most recommended method 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53578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868E9-3661-2298-B661-52D18DF4E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CB87AD-CF2F-BE68-6FC8-391046883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Methods to select specific country  </a:t>
            </a:r>
            <a:endParaRPr lang="zh-TW" altLang="en-US" dirty="0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4CA95450-2471-C4F6-2CD4-C6BBBA74C3D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66C18BBA-880E-55D6-EE4C-6BD1B619287D}"/>
              </a:ext>
            </a:extLst>
          </p:cNvPr>
          <p:cNvSpPr txBox="1">
            <a:spLocks/>
          </p:cNvSpPr>
          <p:nvPr/>
        </p:nvSpPr>
        <p:spPr>
          <a:xfrm>
            <a:off x="157599" y="1643192"/>
            <a:ext cx="4669774" cy="487173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Method 2 --</a:t>
            </a:r>
            <a:br>
              <a:rPr lang="en-US" altLang="zh-TW" dirty="0"/>
            </a:br>
            <a:r>
              <a:rPr lang="en-US" altLang="zh-TW" dirty="0"/>
              <a:t>Select by clicking </a:t>
            </a:r>
            <a:br>
              <a:rPr lang="en-US" altLang="zh-TW" dirty="0"/>
            </a:br>
            <a:r>
              <a:rPr lang="en-US" altLang="zh-TW" dirty="0"/>
              <a:t>legend in line chart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Map zoom into the </a:t>
            </a:r>
            <a:br>
              <a:rPr lang="en-US" altLang="zh-TW" dirty="0"/>
            </a:br>
            <a:r>
              <a:rPr lang="en-US" altLang="zh-TW" dirty="0"/>
              <a:t>selected country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Line chart highlight the selected line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Gauge indicators automatically display the selected country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Bar chart highlight the proportion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Remember to click it back or it will cause conflict with  data slicer !!</a:t>
            </a:r>
          </a:p>
          <a:p>
            <a:endParaRPr lang="zh-TW" altLang="en-US" dirty="0"/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BEBD359E-F5DA-5DDE-3E14-75DD868FD21F}"/>
              </a:ext>
            </a:extLst>
          </p:cNvPr>
          <p:cNvGrpSpPr/>
          <p:nvPr/>
        </p:nvGrpSpPr>
        <p:grpSpPr>
          <a:xfrm>
            <a:off x="4697728" y="1580549"/>
            <a:ext cx="7494272" cy="4351338"/>
            <a:chOff x="4697728" y="1580549"/>
            <a:chExt cx="7494272" cy="4351338"/>
          </a:xfrm>
        </p:grpSpPr>
        <p:pic>
          <p:nvPicPr>
            <p:cNvPr id="18" name="內容版面配置區 4" descr="一張含有 文字, 圖表, 螢幕擷取畫面, 字型 的圖片&#10;&#10;AI 產生的內容可能不正確。">
              <a:extLst>
                <a:ext uri="{FF2B5EF4-FFF2-40B4-BE49-F238E27FC236}">
                  <a16:creationId xmlns:a16="http://schemas.microsoft.com/office/drawing/2014/main" id="{FC7B4B94-FD35-3566-05BB-DB9B6E49E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97728" y="1580549"/>
              <a:ext cx="7494272" cy="4351338"/>
            </a:xfrm>
            <a:prstGeom prst="rect">
              <a:avLst/>
            </a:prstGeom>
          </p:spPr>
        </p:pic>
        <p:sp>
          <p:nvSpPr>
            <p:cNvPr id="19" name="框架 18">
              <a:extLst>
                <a:ext uri="{FF2B5EF4-FFF2-40B4-BE49-F238E27FC236}">
                  <a16:creationId xmlns:a16="http://schemas.microsoft.com/office/drawing/2014/main" id="{423E1A76-E625-2523-C4EA-78141D34C5E9}"/>
                </a:ext>
              </a:extLst>
            </p:cNvPr>
            <p:cNvSpPr/>
            <p:nvPr/>
          </p:nvSpPr>
          <p:spPr>
            <a:xfrm>
              <a:off x="6862121" y="4201298"/>
              <a:ext cx="502508" cy="304800"/>
            </a:xfrm>
            <a:prstGeom prst="fram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650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4475D-C1EC-D1C2-D988-ECE0E3619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BAF05E-5426-F51C-A56E-86ED4D6BB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Methods to select specific country  </a:t>
            </a:r>
            <a:endParaRPr lang="zh-TW" altLang="en-US" dirty="0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B9FA3636-A109-9672-089E-0303C017C58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D711E00-AC86-52AB-DE13-6E2D37B4CD48}"/>
              </a:ext>
            </a:extLst>
          </p:cNvPr>
          <p:cNvSpPr txBox="1">
            <a:spLocks/>
          </p:cNvSpPr>
          <p:nvPr/>
        </p:nvSpPr>
        <p:spPr>
          <a:xfrm>
            <a:off x="594132" y="1690687"/>
            <a:ext cx="3764692" cy="480218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Method 3 --</a:t>
            </a:r>
            <a:br>
              <a:rPr lang="en-US" altLang="zh-TW" dirty="0"/>
            </a:br>
            <a:r>
              <a:rPr lang="en-US" altLang="zh-TW" dirty="0"/>
              <a:t>Select by clicking </a:t>
            </a:r>
            <a:br>
              <a:rPr lang="en-US" altLang="zh-TW" dirty="0"/>
            </a:br>
            <a:r>
              <a:rPr lang="en-US" altLang="zh-TW" dirty="0"/>
              <a:t>country on the map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Line chart and display the selected country only</a:t>
            </a:r>
          </a:p>
          <a:p>
            <a:pPr marL="457200" lvl="1" indent="0">
              <a:buNone/>
            </a:pPr>
            <a:endParaRPr lang="en-US" altLang="zh-TW" dirty="0"/>
          </a:p>
          <a:p>
            <a:pPr lvl="1"/>
            <a:r>
              <a:rPr lang="en-US" altLang="zh-TW" dirty="0"/>
              <a:t>Bar chart highlight the proportion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Gauge indicators automatically display the selected country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Remember to click it back or it will cause conflict with  data slicer !!</a:t>
            </a:r>
          </a:p>
          <a:p>
            <a:endParaRPr lang="zh-TW" altLang="en-US" dirty="0"/>
          </a:p>
        </p:txBody>
      </p:sp>
      <p:pic>
        <p:nvPicPr>
          <p:cNvPr id="5" name="內容版面配置區 4" descr="一張含有 文字, 螢幕擷取畫面, 圖表, 地圖 的圖片&#10;&#10;AI 產生的內容可能不正確。">
            <a:extLst>
              <a:ext uri="{FF2B5EF4-FFF2-40B4-BE49-F238E27FC236}">
                <a16:creationId xmlns:a16="http://schemas.microsoft.com/office/drawing/2014/main" id="{0C043FAC-82AF-2D9E-0A21-3A8EB45D60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98470" y="1690688"/>
            <a:ext cx="7329121" cy="4351338"/>
          </a:xfrm>
          <a:prstGeom prst="rect">
            <a:avLst/>
          </a:prstGeom>
        </p:spPr>
      </p:pic>
      <p:sp>
        <p:nvSpPr>
          <p:cNvPr id="12" name="框架 11">
            <a:extLst>
              <a:ext uri="{FF2B5EF4-FFF2-40B4-BE49-F238E27FC236}">
                <a16:creationId xmlns:a16="http://schemas.microsoft.com/office/drawing/2014/main" id="{58510418-4098-3182-C033-96D3093C444A}"/>
              </a:ext>
            </a:extLst>
          </p:cNvPr>
          <p:cNvSpPr/>
          <p:nvPr/>
        </p:nvSpPr>
        <p:spPr>
          <a:xfrm>
            <a:off x="6912059" y="3369275"/>
            <a:ext cx="637403" cy="397476"/>
          </a:xfrm>
          <a:prstGeom prst="fram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9621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FB012-BEFD-E9F4-94EF-1CDB2DEEF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Clear Selection</a:t>
            </a:r>
            <a:endParaRPr lang="zh-TW" altLang="en-US" dirty="0"/>
          </a:p>
        </p:txBody>
      </p:sp>
      <p:pic>
        <p:nvPicPr>
          <p:cNvPr id="5" name="內容版面配置區 4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34B2FA2A-F85B-35DB-92C2-D631120F80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025" t="56868" r="78279" b="15113"/>
          <a:stretch>
            <a:fillRect/>
          </a:stretch>
        </p:blipFill>
        <p:spPr>
          <a:xfrm>
            <a:off x="527221" y="2285816"/>
            <a:ext cx="4045448" cy="3789405"/>
          </a:xfrm>
          <a:prstGeom prst="rect">
            <a:avLst/>
          </a:prstGeom>
        </p:spPr>
      </p:pic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F3B33A05-CD59-3495-9D28-A22D2F52F968}"/>
              </a:ext>
            </a:extLst>
          </p:cNvPr>
          <p:cNvSpPr txBox="1">
            <a:spLocks/>
          </p:cNvSpPr>
          <p:nvPr/>
        </p:nvSpPr>
        <p:spPr>
          <a:xfrm>
            <a:off x="838200" y="1460028"/>
            <a:ext cx="435163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Method 1 </a:t>
            </a:r>
            <a:br>
              <a:rPr lang="en-US" altLang="zh-TW" dirty="0"/>
            </a:br>
            <a:r>
              <a:rPr lang="en-US" altLang="zh-TW" dirty="0"/>
              <a:t>click the icon on data slicer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C4A75DD7-08A9-B1AC-F389-D573F9720D39}"/>
              </a:ext>
            </a:extLst>
          </p:cNvPr>
          <p:cNvSpPr txBox="1">
            <a:spLocks/>
          </p:cNvSpPr>
          <p:nvPr/>
        </p:nvSpPr>
        <p:spPr>
          <a:xfrm>
            <a:off x="5406081" y="1365293"/>
            <a:ext cx="580561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Method 2</a:t>
            </a:r>
            <a:br>
              <a:rPr lang="en-US" altLang="zh-TW" dirty="0"/>
            </a:br>
            <a:r>
              <a:rPr lang="en-US" altLang="zh-TW" dirty="0"/>
              <a:t>Apply the Clear all slicer button onto the dashboard</a:t>
            </a:r>
          </a:p>
          <a:p>
            <a:endParaRPr lang="en-US" altLang="zh-TW" dirty="0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EB3DDA5E-4FAE-7B25-30FF-51A306730C45}"/>
              </a:ext>
            </a:extLst>
          </p:cNvPr>
          <p:cNvGrpSpPr/>
          <p:nvPr/>
        </p:nvGrpSpPr>
        <p:grpSpPr>
          <a:xfrm>
            <a:off x="5873578" y="2641246"/>
            <a:ext cx="4757850" cy="3819604"/>
            <a:chOff x="5873578" y="2641246"/>
            <a:chExt cx="4757850" cy="3819604"/>
          </a:xfrm>
        </p:grpSpPr>
        <p:pic>
          <p:nvPicPr>
            <p:cNvPr id="10" name="圖片 9" descr="一張含有 文字, 螢幕擷取畫面, 軟體, 地圖 的圖片&#10;&#10;AI 產生的內容可能不正確。">
              <a:extLst>
                <a:ext uri="{FF2B5EF4-FFF2-40B4-BE49-F238E27FC236}">
                  <a16:creationId xmlns:a16="http://schemas.microsoft.com/office/drawing/2014/main" id="{D3D03B2D-2352-8911-EAEB-B150EE411E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73578" y="2641246"/>
              <a:ext cx="4757850" cy="3819604"/>
            </a:xfrm>
            <a:prstGeom prst="rect">
              <a:avLst/>
            </a:prstGeom>
          </p:spPr>
        </p:pic>
        <p:sp>
          <p:nvSpPr>
            <p:cNvPr id="11" name="框架 10">
              <a:extLst>
                <a:ext uri="{FF2B5EF4-FFF2-40B4-BE49-F238E27FC236}">
                  <a16:creationId xmlns:a16="http://schemas.microsoft.com/office/drawing/2014/main" id="{0EF6CD20-6026-1990-23CB-DC746EEB95ED}"/>
                </a:ext>
              </a:extLst>
            </p:cNvPr>
            <p:cNvSpPr/>
            <p:nvPr/>
          </p:nvSpPr>
          <p:spPr>
            <a:xfrm>
              <a:off x="9140549" y="5411831"/>
              <a:ext cx="967277" cy="304800"/>
            </a:xfrm>
            <a:prstGeom prst="fram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5744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D8430B4-BE4D-6361-1CE7-E02FE116B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update data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754C621-7F77-79A6-6822-4454139959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3135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373B6F-037B-41E1-BC33-3560C4D42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Spreadsheet (Main)</a:t>
            </a:r>
            <a:endParaRPr lang="zh-TW" altLang="en-US" dirty="0"/>
          </a:p>
        </p:txBody>
      </p:sp>
      <p:pic>
        <p:nvPicPr>
          <p:cNvPr id="5" name="內容版面配置區 4" descr="一張含有 文字, 螢幕擷取畫面, 數字 的圖片&#10;&#10;AI 產生的內容可能不正確。">
            <a:extLst>
              <a:ext uri="{FF2B5EF4-FFF2-40B4-BE49-F238E27FC236}">
                <a16:creationId xmlns:a16="http://schemas.microsoft.com/office/drawing/2014/main" id="{0C8BEC70-75EA-51D3-7E6F-F3E7A37DD3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3326" y="1372544"/>
            <a:ext cx="5727315" cy="4351338"/>
          </a:xfrm>
          <a:prstGeom prst="rect">
            <a:avLst/>
          </a:prstGeom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C6FD7EB2-0712-A612-3EC8-C12F059E632E}"/>
              </a:ext>
            </a:extLst>
          </p:cNvPr>
          <p:cNvSpPr txBox="1">
            <a:spLocks/>
          </p:cNvSpPr>
          <p:nvPr/>
        </p:nvSpPr>
        <p:spPr>
          <a:xfrm>
            <a:off x="6571734" y="691978"/>
            <a:ext cx="5200136" cy="53500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Containing the following attributes</a:t>
            </a:r>
            <a:br>
              <a:rPr lang="en-US" altLang="zh-TW" dirty="0"/>
            </a:br>
            <a:endParaRPr lang="en-US" altLang="zh-TW" dirty="0"/>
          </a:p>
          <a:p>
            <a:pPr lvl="1"/>
            <a:r>
              <a:rPr lang="en-US" altLang="zh-TW" dirty="0"/>
              <a:t>Compounds: Analyzed drug type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Site: sampling site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Date: the sampling date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Mass load: unit (mg/day/1000 people)</a:t>
            </a:r>
            <a:br>
              <a:rPr lang="en-US" altLang="zh-TW" dirty="0"/>
            </a:br>
            <a:r>
              <a:rPr lang="en-US" altLang="zh-TW" dirty="0">
                <a:solidFill>
                  <a:srgbClr val="FF0000"/>
                </a:solidFill>
              </a:rPr>
              <a:t>Remember to apply 0 if status is Detected but not quantified or Not detected 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Status: either</a:t>
            </a:r>
            <a:br>
              <a:rPr lang="en-US" altLang="zh-TW" dirty="0"/>
            </a:br>
            <a:r>
              <a:rPr lang="en-US" altLang="zh-TW" dirty="0"/>
              <a:t>Quantified/ </a:t>
            </a:r>
            <a:br>
              <a:rPr lang="en-US" altLang="zh-TW" dirty="0"/>
            </a:br>
            <a:r>
              <a:rPr lang="en-US" altLang="zh-TW" dirty="0"/>
              <a:t>Detected but not quantified/ </a:t>
            </a:r>
            <a:br>
              <a:rPr lang="en-US" altLang="zh-TW" dirty="0"/>
            </a:br>
            <a:r>
              <a:rPr lang="en-US" altLang="zh-TW" dirty="0"/>
              <a:t>Not detected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Christmas Year Holiday</a:t>
            </a:r>
          </a:p>
        </p:txBody>
      </p:sp>
    </p:spTree>
    <p:extLst>
      <p:ext uri="{BB962C8B-B14F-4D97-AF65-F5344CB8AC3E}">
        <p14:creationId xmlns:p14="http://schemas.microsoft.com/office/powerpoint/2010/main" val="2020505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 descr="一張含有 文字, 螢幕擷取畫面, 數字, 平行 的圖片&#10;&#10;AI 產生的內容可能不正確。">
            <a:extLst>
              <a:ext uri="{FF2B5EF4-FFF2-40B4-BE49-F238E27FC236}">
                <a16:creationId xmlns:a16="http://schemas.microsoft.com/office/drawing/2014/main" id="{94D5DD4F-C28D-C3DB-B329-F0D255B199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4626" y="1463159"/>
            <a:ext cx="2713720" cy="5215433"/>
          </a:xfrm>
          <a:prstGeom prst="rect">
            <a:avLst/>
          </a:prstGeom>
        </p:spPr>
      </p:pic>
      <p:pic>
        <p:nvPicPr>
          <p:cNvPr id="7" name="圖片 6" descr="一張含有 文字, 螢幕擷取畫面, 多媒體軟體, 軟體 的圖片&#10;&#10;AI 產生的內容可能不正確。">
            <a:extLst>
              <a:ext uri="{FF2B5EF4-FFF2-40B4-BE49-F238E27FC236}">
                <a16:creationId xmlns:a16="http://schemas.microsoft.com/office/drawing/2014/main" id="{B2CBD237-EC4A-C0FB-8CF4-773A70365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500" y="3650369"/>
            <a:ext cx="5433531" cy="2842506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A9618519-88FD-9046-1D85-2B03F8881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/>
              <a:t>Data Spreadsheet (Site)</a:t>
            </a:r>
            <a:endParaRPr lang="zh-TW" altLang="en-US" dirty="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D93369BA-E4E2-A1D9-343E-79997C21D72C}"/>
              </a:ext>
            </a:extLst>
          </p:cNvPr>
          <p:cNvSpPr txBox="1">
            <a:spLocks/>
          </p:cNvSpPr>
          <p:nvPr/>
        </p:nvSpPr>
        <p:spPr>
          <a:xfrm>
            <a:off x="5912707" y="1493408"/>
            <a:ext cx="5200136" cy="5350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Containing the Country and continent information of the sites in main sheet</a:t>
            </a:r>
          </a:p>
          <a:p>
            <a:r>
              <a:rPr lang="en-US" altLang="zh-TW" dirty="0"/>
              <a:t>Linked to the site attribute in main sheet</a:t>
            </a:r>
            <a:br>
              <a:rPr lang="en-US" altLang="zh-TW" dirty="0"/>
            </a:b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982034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F80F3C-979D-9B10-0C0A-2A80AFE90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Spreadsheet (Compounds)</a:t>
            </a:r>
            <a:endParaRPr lang="zh-TW" altLang="en-US" dirty="0"/>
          </a:p>
        </p:txBody>
      </p:sp>
      <p:pic>
        <p:nvPicPr>
          <p:cNvPr id="5" name="內容版面配置區 4" descr="一張含有 文字, 螢幕擷取畫面, 數字, 軟體 的圖片&#10;&#10;AI 產生的內容可能不正確。">
            <a:extLst>
              <a:ext uri="{FF2B5EF4-FFF2-40B4-BE49-F238E27FC236}">
                <a16:creationId xmlns:a16="http://schemas.microsoft.com/office/drawing/2014/main" id="{12103C09-B8C5-26BF-F5C7-AB4A2BF085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9348" y="1949192"/>
            <a:ext cx="4336158" cy="4351338"/>
          </a:xfrm>
          <a:prstGeom prst="rect">
            <a:avLst/>
          </a:prstGeom>
        </p:spPr>
      </p:pic>
      <p:pic>
        <p:nvPicPr>
          <p:cNvPr id="7" name="圖片 6" descr="一張含有 文字, 螢幕擷取畫面, 多媒體軟體, 字型 的圖片&#10;&#10;AI 產生的內容可能不正確。">
            <a:extLst>
              <a:ext uri="{FF2B5EF4-FFF2-40B4-BE49-F238E27FC236}">
                <a16:creationId xmlns:a16="http://schemas.microsoft.com/office/drawing/2014/main" id="{83703E65-5782-9F14-B3E2-84B01F09D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4" y="4013887"/>
            <a:ext cx="5166808" cy="2568163"/>
          </a:xfrm>
          <a:prstGeom prst="rect">
            <a:avLst/>
          </a:prstGeom>
        </p:spPr>
      </p:pic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8A0E1E0D-59B0-22AB-3AAA-B63C0B9ADA97}"/>
              </a:ext>
            </a:extLst>
          </p:cNvPr>
          <p:cNvSpPr txBox="1">
            <a:spLocks/>
          </p:cNvSpPr>
          <p:nvPr/>
        </p:nvSpPr>
        <p:spPr>
          <a:xfrm>
            <a:off x="5904469" y="1690688"/>
            <a:ext cx="5537888" cy="5350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Containing the Class information of the compounds in main sheet</a:t>
            </a:r>
          </a:p>
          <a:p>
            <a:endParaRPr lang="en-US" altLang="zh-TW" dirty="0"/>
          </a:p>
          <a:p>
            <a:r>
              <a:rPr lang="en-US" altLang="zh-TW" dirty="0"/>
              <a:t>Linked to the compounds attribute in main sheet</a:t>
            </a:r>
            <a:br>
              <a:rPr lang="en-US" altLang="zh-TW" dirty="0"/>
            </a:b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61782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1BBD79-CEDA-E277-1653-49AB1D8EC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Insert a new record</a:t>
            </a:r>
            <a:endParaRPr lang="zh-TW" altLang="en-US" dirty="0"/>
          </a:p>
        </p:txBody>
      </p:sp>
      <p:pic>
        <p:nvPicPr>
          <p:cNvPr id="5" name="內容版面配置區 4" descr="一張含有 文字, 螢幕擷取畫面, 數字, 行 的圖片&#10;&#10;AI 產生的內容可能不正確。">
            <a:extLst>
              <a:ext uri="{FF2B5EF4-FFF2-40B4-BE49-F238E27FC236}">
                <a16:creationId xmlns:a16="http://schemas.microsoft.com/office/drawing/2014/main" id="{DBD3BDB2-AD5C-FDC8-DC6C-1FFE7498DA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974" y="3367002"/>
            <a:ext cx="8862828" cy="3185436"/>
          </a:xfrm>
          <a:prstGeom prst="rect">
            <a:avLst/>
          </a:prstGeom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E97EC8EC-D57C-5CA5-1B1F-E4A40D614A15}"/>
              </a:ext>
            </a:extLst>
          </p:cNvPr>
          <p:cNvSpPr txBox="1">
            <a:spLocks/>
          </p:cNvSpPr>
          <p:nvPr/>
        </p:nvSpPr>
        <p:spPr>
          <a:xfrm>
            <a:off x="838199" y="1690688"/>
            <a:ext cx="8025715" cy="20512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Typing a new record based on the attribute format</a:t>
            </a:r>
            <a:br>
              <a:rPr lang="en-US" altLang="zh-TW" dirty="0"/>
            </a:br>
            <a:endParaRPr lang="en-US" altLang="zh-TW" dirty="0"/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Remember to apply 0 in Mass load if status is Detected but not quantified or Not detected </a:t>
            </a:r>
          </a:p>
        </p:txBody>
      </p:sp>
    </p:spTree>
    <p:extLst>
      <p:ext uri="{BB962C8B-B14F-4D97-AF65-F5344CB8AC3E}">
        <p14:creationId xmlns:p14="http://schemas.microsoft.com/office/powerpoint/2010/main" val="664403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BC5DA3-26D9-752E-C2FC-6DD58BDBD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Delete the unwanted record</a:t>
            </a:r>
            <a:endParaRPr lang="zh-TW" altLang="en-US" dirty="0"/>
          </a:p>
        </p:txBody>
      </p:sp>
      <p:pic>
        <p:nvPicPr>
          <p:cNvPr id="5" name="內容版面配置區 4" descr="一張含有 文字, 螢幕擷取畫面, 軟體, 數字 的圖片&#10;&#10;AI 產生的內容可能不正確。">
            <a:extLst>
              <a:ext uri="{FF2B5EF4-FFF2-40B4-BE49-F238E27FC236}">
                <a16:creationId xmlns:a16="http://schemas.microsoft.com/office/drawing/2014/main" id="{AE78D056-13BB-8CF8-8F11-061F2A07C2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78" t="43835" r="63252" b="15303"/>
          <a:stretch>
            <a:fillRect/>
          </a:stretch>
        </p:blipFill>
        <p:spPr>
          <a:xfrm>
            <a:off x="1524000" y="3024112"/>
            <a:ext cx="5082746" cy="3608807"/>
          </a:xfrm>
          <a:prstGeom prst="rect">
            <a:avLst/>
          </a:prstGeom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64B7757B-30FD-9AF9-7D99-77B77C2B329F}"/>
              </a:ext>
            </a:extLst>
          </p:cNvPr>
          <p:cNvSpPr txBox="1">
            <a:spLocks/>
          </p:cNvSpPr>
          <p:nvPr/>
        </p:nvSpPr>
        <p:spPr>
          <a:xfrm>
            <a:off x="953528" y="1534169"/>
            <a:ext cx="8025715" cy="20512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rgbClr val="FF0000"/>
                </a:solidFill>
              </a:rPr>
              <a:t>Delete the entire row without leaving blank </a:t>
            </a:r>
            <a:br>
              <a:rPr lang="en-US" altLang="zh-TW" dirty="0">
                <a:solidFill>
                  <a:srgbClr val="FF0000"/>
                </a:solidFill>
              </a:rPr>
            </a:br>
            <a:r>
              <a:rPr lang="en-US" altLang="zh-TW" dirty="0">
                <a:solidFill>
                  <a:srgbClr val="FF0000"/>
                </a:solidFill>
              </a:rPr>
              <a:t>or will cause data fetching problem</a:t>
            </a:r>
          </a:p>
        </p:txBody>
      </p:sp>
    </p:spTree>
    <p:extLst>
      <p:ext uri="{BB962C8B-B14F-4D97-AF65-F5344CB8AC3E}">
        <p14:creationId xmlns:p14="http://schemas.microsoft.com/office/powerpoint/2010/main" val="23911386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6B6469-F809-D22E-DB8B-93BF9CEE1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Update data</a:t>
            </a:r>
            <a:endParaRPr lang="zh-TW" altLang="en-US" dirty="0"/>
          </a:p>
        </p:txBody>
      </p:sp>
      <p:sp>
        <p:nvSpPr>
          <p:cNvPr id="11" name="內容版面配置區 10">
            <a:extLst>
              <a:ext uri="{FF2B5EF4-FFF2-40B4-BE49-F238E27FC236}">
                <a16:creationId xmlns:a16="http://schemas.microsoft.com/office/drawing/2014/main" id="{ED392542-7892-7E0D-B992-7EFF41013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9995"/>
            <a:ext cx="8594124" cy="4351338"/>
          </a:xfrm>
        </p:spPr>
        <p:txBody>
          <a:bodyPr/>
          <a:lstStyle/>
          <a:p>
            <a:r>
              <a:rPr lang="en-US" altLang="zh-TW" dirty="0"/>
              <a:t>Once the data is updated, click refresh the schema and data to refresh the dashboard</a:t>
            </a:r>
            <a:endParaRPr lang="zh-TW" altLang="en-US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01C4F0A5-236E-F98D-ABAA-062F57AB11A6}"/>
              </a:ext>
            </a:extLst>
          </p:cNvPr>
          <p:cNvGrpSpPr/>
          <p:nvPr/>
        </p:nvGrpSpPr>
        <p:grpSpPr>
          <a:xfrm>
            <a:off x="2034511" y="2591419"/>
            <a:ext cx="7826418" cy="4038950"/>
            <a:chOff x="4184587" y="1561689"/>
            <a:chExt cx="7826418" cy="4038950"/>
          </a:xfrm>
        </p:grpSpPr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6B0102B1-F02A-42C7-E37B-84F79B512324}"/>
                </a:ext>
              </a:extLst>
            </p:cNvPr>
            <p:cNvGrpSpPr/>
            <p:nvPr/>
          </p:nvGrpSpPr>
          <p:grpSpPr>
            <a:xfrm>
              <a:off x="4184587" y="1561689"/>
              <a:ext cx="7826418" cy="4038950"/>
              <a:chOff x="3690316" y="1981819"/>
              <a:chExt cx="7826418" cy="4038950"/>
            </a:xfrm>
          </p:grpSpPr>
          <p:pic>
            <p:nvPicPr>
              <p:cNvPr id="9" name="圖片 8" descr="一張含有 文字, 螢幕擷取畫面, 軟體, 多媒體軟體 的圖片&#10;&#10;AI 產生的內容可能不正確。">
                <a:extLst>
                  <a:ext uri="{FF2B5EF4-FFF2-40B4-BE49-F238E27FC236}">
                    <a16:creationId xmlns:a16="http://schemas.microsoft.com/office/drawing/2014/main" id="{4A5D06B8-572F-ECC1-9E15-001F29F860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690316" y="1981819"/>
                <a:ext cx="7826418" cy="4038950"/>
              </a:xfrm>
              <a:prstGeom prst="rect">
                <a:avLst/>
              </a:prstGeom>
            </p:spPr>
          </p:pic>
          <p:sp>
            <p:nvSpPr>
              <p:cNvPr id="7" name="框架 6">
                <a:extLst>
                  <a:ext uri="{FF2B5EF4-FFF2-40B4-BE49-F238E27FC236}">
                    <a16:creationId xmlns:a16="http://schemas.microsoft.com/office/drawing/2014/main" id="{D43B4719-4417-C875-72E7-072B7B835F8E}"/>
                  </a:ext>
                </a:extLst>
              </p:cNvPr>
              <p:cNvSpPr/>
              <p:nvPr/>
            </p:nvSpPr>
            <p:spPr>
              <a:xfrm>
                <a:off x="8707396" y="3107725"/>
                <a:ext cx="1062680" cy="321275"/>
              </a:xfrm>
              <a:prstGeom prst="fram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" name="框架 12">
              <a:extLst>
                <a:ext uri="{FF2B5EF4-FFF2-40B4-BE49-F238E27FC236}">
                  <a16:creationId xmlns:a16="http://schemas.microsoft.com/office/drawing/2014/main" id="{125109C9-1619-A81E-4FB1-05715919FB21}"/>
                </a:ext>
              </a:extLst>
            </p:cNvPr>
            <p:cNvSpPr/>
            <p:nvPr/>
          </p:nvSpPr>
          <p:spPr>
            <a:xfrm>
              <a:off x="9061622" y="1885350"/>
              <a:ext cx="593125" cy="802245"/>
            </a:xfrm>
            <a:prstGeom prst="fram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55438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0B25D-09E6-BACD-5556-46A053834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source setting</a:t>
            </a:r>
            <a:endParaRPr lang="zh-TW" altLang="en-US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066CD877-4A71-9C11-18E0-56384A4F754A}"/>
              </a:ext>
            </a:extLst>
          </p:cNvPr>
          <p:cNvGrpSpPr/>
          <p:nvPr/>
        </p:nvGrpSpPr>
        <p:grpSpPr>
          <a:xfrm>
            <a:off x="1482811" y="2514473"/>
            <a:ext cx="8237838" cy="4114372"/>
            <a:chOff x="3124200" y="1574606"/>
            <a:chExt cx="8572067" cy="4351338"/>
          </a:xfrm>
        </p:grpSpPr>
        <p:pic>
          <p:nvPicPr>
            <p:cNvPr id="8" name="內容版面配置區 4" descr="一張含有 文字, 螢幕擷取畫面, 軟體, 多媒體軟體 的圖片&#10;&#10;AI 產生的內容可能不正確。">
              <a:extLst>
                <a:ext uri="{FF2B5EF4-FFF2-40B4-BE49-F238E27FC236}">
                  <a16:creationId xmlns:a16="http://schemas.microsoft.com/office/drawing/2014/main" id="{1622F008-6CBB-51A6-834F-F23880CFA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24200" y="1574606"/>
              <a:ext cx="8572067" cy="4351338"/>
            </a:xfrm>
            <a:prstGeom prst="rect">
              <a:avLst/>
            </a:prstGeom>
          </p:spPr>
        </p:pic>
        <p:sp>
          <p:nvSpPr>
            <p:cNvPr id="9" name="框架 8">
              <a:extLst>
                <a:ext uri="{FF2B5EF4-FFF2-40B4-BE49-F238E27FC236}">
                  <a16:creationId xmlns:a16="http://schemas.microsoft.com/office/drawing/2014/main" id="{EF0EEA66-A9D9-EFFC-322C-54FEB0601B2B}"/>
                </a:ext>
              </a:extLst>
            </p:cNvPr>
            <p:cNvSpPr/>
            <p:nvPr/>
          </p:nvSpPr>
          <p:spPr>
            <a:xfrm>
              <a:off x="7764165" y="3091760"/>
              <a:ext cx="1317621" cy="321275"/>
            </a:xfrm>
            <a:prstGeom prst="fram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框架 9">
              <a:extLst>
                <a:ext uri="{FF2B5EF4-FFF2-40B4-BE49-F238E27FC236}">
                  <a16:creationId xmlns:a16="http://schemas.microsoft.com/office/drawing/2014/main" id="{B789DD59-6137-0CE2-BBE6-FF27969F7592}"/>
                </a:ext>
              </a:extLst>
            </p:cNvPr>
            <p:cNvSpPr/>
            <p:nvPr/>
          </p:nvSpPr>
          <p:spPr>
            <a:xfrm>
              <a:off x="7624120" y="2059824"/>
              <a:ext cx="593125" cy="802245"/>
            </a:xfrm>
            <a:prstGeom prst="fram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3" name="內容版面配置區 12">
            <a:extLst>
              <a:ext uri="{FF2B5EF4-FFF2-40B4-BE49-F238E27FC236}">
                <a16:creationId xmlns:a16="http://schemas.microsoft.com/office/drawing/2014/main" id="{BD55427E-BFE1-CF37-DE49-CD1742865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15762"/>
            <a:ext cx="7943335" cy="4661201"/>
          </a:xfrm>
        </p:spPr>
        <p:txBody>
          <a:bodyPr/>
          <a:lstStyle/>
          <a:p>
            <a:r>
              <a:rPr lang="en-US" altLang="zh-TW" dirty="0"/>
              <a:t>If the spreadsheet file path has changed, click the data source settings in transform data to reset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092635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22A514-0D54-9DBF-B1BE-E2387DCEC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source setting</a:t>
            </a:r>
            <a:endParaRPr lang="zh-TW" altLang="en-US" dirty="0"/>
          </a:p>
        </p:txBody>
      </p:sp>
      <p:sp>
        <p:nvSpPr>
          <p:cNvPr id="14" name="框架 13">
            <a:extLst>
              <a:ext uri="{FF2B5EF4-FFF2-40B4-BE49-F238E27FC236}">
                <a16:creationId xmlns:a16="http://schemas.microsoft.com/office/drawing/2014/main" id="{5ED3F716-9546-8640-CF61-0950C8E28861}"/>
              </a:ext>
            </a:extLst>
          </p:cNvPr>
          <p:cNvSpPr/>
          <p:nvPr/>
        </p:nvSpPr>
        <p:spPr>
          <a:xfrm>
            <a:off x="9174904" y="4580838"/>
            <a:ext cx="1013254" cy="303779"/>
          </a:xfrm>
          <a:prstGeom prst="fram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C1D5FD14-6540-E95B-F3FD-7D70DECF1243}"/>
              </a:ext>
            </a:extLst>
          </p:cNvPr>
          <p:cNvGrpSpPr/>
          <p:nvPr/>
        </p:nvGrpSpPr>
        <p:grpSpPr>
          <a:xfrm>
            <a:off x="243819" y="1471634"/>
            <a:ext cx="11822543" cy="5021241"/>
            <a:chOff x="243819" y="1471634"/>
            <a:chExt cx="11822543" cy="5021241"/>
          </a:xfrm>
        </p:grpSpPr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2CA9545C-8554-97C3-E79A-27F1C6007B27}"/>
                </a:ext>
              </a:extLst>
            </p:cNvPr>
            <p:cNvGrpSpPr/>
            <p:nvPr/>
          </p:nvGrpSpPr>
          <p:grpSpPr>
            <a:xfrm>
              <a:off x="243819" y="1471634"/>
              <a:ext cx="11822543" cy="5021241"/>
              <a:chOff x="441527" y="1471634"/>
              <a:chExt cx="11822543" cy="5021241"/>
            </a:xfrm>
          </p:grpSpPr>
          <p:pic>
            <p:nvPicPr>
              <p:cNvPr id="10" name="內容版面配置區 4" descr="一張含有 文字, 螢幕擷取畫面, 軟體, 多媒體軟體 的圖片&#10;&#10;AI 產生的內容可能不正確。">
                <a:extLst>
                  <a:ext uri="{FF2B5EF4-FFF2-40B4-BE49-F238E27FC236}">
                    <a16:creationId xmlns:a16="http://schemas.microsoft.com/office/drawing/2014/main" id="{DC619162-9CBB-F7C0-C8A2-5BED3A2A85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41527" y="1471634"/>
                <a:ext cx="5654473" cy="4351338"/>
              </a:xfrm>
              <a:prstGeom prst="rect">
                <a:avLst/>
              </a:prstGeom>
            </p:spPr>
          </p:pic>
          <p:pic>
            <p:nvPicPr>
              <p:cNvPr id="7" name="圖片 6" descr="一張含有 文字, 螢幕擷取畫面, 軟體, 多媒體 的圖片&#10;&#10;AI 產生的內容可能不正確。">
                <a:extLst>
                  <a:ext uri="{FF2B5EF4-FFF2-40B4-BE49-F238E27FC236}">
                    <a16:creationId xmlns:a16="http://schemas.microsoft.com/office/drawing/2014/main" id="{C19F2D25-FAA3-E2C9-7BA8-0A5CA71B34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97855" y="3520817"/>
                <a:ext cx="6866215" cy="2972058"/>
              </a:xfrm>
              <a:prstGeom prst="rect">
                <a:avLst/>
              </a:prstGeom>
            </p:spPr>
          </p:pic>
          <p:sp>
            <p:nvSpPr>
              <p:cNvPr id="8" name="箭號: 弧形下彎 7">
                <a:extLst>
                  <a:ext uri="{FF2B5EF4-FFF2-40B4-BE49-F238E27FC236}">
                    <a16:creationId xmlns:a16="http://schemas.microsoft.com/office/drawing/2014/main" id="{F259BEFC-9F45-7084-F07F-ABC3D3DBC9A5}"/>
                  </a:ext>
                </a:extLst>
              </p:cNvPr>
              <p:cNvSpPr/>
              <p:nvPr/>
            </p:nvSpPr>
            <p:spPr>
              <a:xfrm rot="1851949">
                <a:off x="6019250" y="2324037"/>
                <a:ext cx="3064476" cy="1325563"/>
              </a:xfrm>
              <a:prstGeom prst="curvedDownArrow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框架 8">
                <a:extLst>
                  <a:ext uri="{FF2B5EF4-FFF2-40B4-BE49-F238E27FC236}">
                    <a16:creationId xmlns:a16="http://schemas.microsoft.com/office/drawing/2014/main" id="{1B7EB772-2F28-FD06-2A3E-E97C3821C413}"/>
                  </a:ext>
                </a:extLst>
              </p:cNvPr>
              <p:cNvSpPr/>
              <p:nvPr/>
            </p:nvSpPr>
            <p:spPr>
              <a:xfrm>
                <a:off x="601362" y="4980373"/>
                <a:ext cx="1013254" cy="303779"/>
              </a:xfrm>
              <a:prstGeom prst="fram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5" name="語音泡泡: 橢圓形 14">
              <a:extLst>
                <a:ext uri="{FF2B5EF4-FFF2-40B4-BE49-F238E27FC236}">
                  <a16:creationId xmlns:a16="http://schemas.microsoft.com/office/drawing/2014/main" id="{B7CA3FB2-67B2-293A-05E3-B30AFC8FAEB4}"/>
                </a:ext>
              </a:extLst>
            </p:cNvPr>
            <p:cNvSpPr/>
            <p:nvPr/>
          </p:nvSpPr>
          <p:spPr>
            <a:xfrm>
              <a:off x="8894817" y="1953226"/>
              <a:ext cx="2586681" cy="1383957"/>
            </a:xfrm>
            <a:prstGeom prst="wedgeEllipseCallout">
              <a:avLst>
                <a:gd name="adj1" fmla="val -15101"/>
                <a:gd name="adj2" fmla="val 141071"/>
              </a:avLst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Browse the new file path</a:t>
              </a:r>
              <a:endParaRPr lang="zh-TW" altLang="en-US" dirty="0"/>
            </a:p>
          </p:txBody>
        </p:sp>
        <p:sp>
          <p:nvSpPr>
            <p:cNvPr id="16" name="框架 15">
              <a:extLst>
                <a:ext uri="{FF2B5EF4-FFF2-40B4-BE49-F238E27FC236}">
                  <a16:creationId xmlns:a16="http://schemas.microsoft.com/office/drawing/2014/main" id="{D7795261-ECEA-1D7E-B00E-5CEA7CC33D16}"/>
                </a:ext>
              </a:extLst>
            </p:cNvPr>
            <p:cNvSpPr/>
            <p:nvPr/>
          </p:nvSpPr>
          <p:spPr>
            <a:xfrm>
              <a:off x="10107827" y="5512142"/>
              <a:ext cx="771506" cy="407782"/>
            </a:xfrm>
            <a:prstGeom prst="fram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69224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3668B0-D3A8-3BAC-E509-DE1A0A886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Beware</a:t>
            </a:r>
            <a:endParaRPr lang="zh-TW" altLang="en-US" dirty="0"/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8982D2FD-22B8-4935-2342-4B6051D98486}"/>
              </a:ext>
            </a:extLst>
          </p:cNvPr>
          <p:cNvGrpSpPr/>
          <p:nvPr/>
        </p:nvGrpSpPr>
        <p:grpSpPr>
          <a:xfrm>
            <a:off x="6298338" y="1230120"/>
            <a:ext cx="3829574" cy="4397760"/>
            <a:chOff x="4049408" y="1027906"/>
            <a:chExt cx="3829574" cy="4397760"/>
          </a:xfrm>
        </p:grpSpPr>
        <p:pic>
          <p:nvPicPr>
            <p:cNvPr id="7" name="內容版面配置區 4" descr="一張含有 文字, 螢幕擷取畫面, 字型, 數字 的圖片&#10;&#10;AI 產生的內容可能不正確。">
              <a:extLst>
                <a:ext uri="{FF2B5EF4-FFF2-40B4-BE49-F238E27FC236}">
                  <a16:creationId xmlns:a16="http://schemas.microsoft.com/office/drawing/2014/main" id="{E65E35D1-F21B-0E97-3AB3-FB0310B678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49408" y="1027906"/>
              <a:ext cx="3829574" cy="4397760"/>
            </a:xfrm>
            <a:prstGeom prst="rect">
              <a:avLst/>
            </a:prstGeom>
          </p:spPr>
        </p:pic>
        <p:sp>
          <p:nvSpPr>
            <p:cNvPr id="6" name="框架 5">
              <a:extLst>
                <a:ext uri="{FF2B5EF4-FFF2-40B4-BE49-F238E27FC236}">
                  <a16:creationId xmlns:a16="http://schemas.microsoft.com/office/drawing/2014/main" id="{86673465-32BC-329E-F838-CB7E1904E4B9}"/>
                </a:ext>
              </a:extLst>
            </p:cNvPr>
            <p:cNvSpPr/>
            <p:nvPr/>
          </p:nvSpPr>
          <p:spPr>
            <a:xfrm>
              <a:off x="4703806" y="1614295"/>
              <a:ext cx="1219199" cy="469877"/>
            </a:xfrm>
            <a:prstGeom prst="fram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F729D907-F782-C617-E4E9-FA86D3DA4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816" y="1737109"/>
            <a:ext cx="4903573" cy="4351338"/>
          </a:xfrm>
        </p:spPr>
        <p:txBody>
          <a:bodyPr/>
          <a:lstStyle/>
          <a:p>
            <a:r>
              <a:rPr lang="en-US" altLang="zh-TW" dirty="0"/>
              <a:t>If there is (Blank) appears in the data slicer after update the spreadsheet, check whether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There is blank in main sheet or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There are new compounds or sites upload in main sheet but haven’t added in the site or compound sheet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896000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0DBE19-51CA-5FD9-E774-5253E29B6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Publish Dashboard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18233CD-0225-A83A-FA4D-8F7D2D35C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39166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0350EC-BBCE-9096-26A3-4CF40FCC5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Publish the dashboard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E2CA2597-0D17-5E30-90F3-3ADCED898E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8880"/>
          <a:stretch>
            <a:fillRect/>
          </a:stretch>
        </p:blipFill>
        <p:spPr>
          <a:xfrm>
            <a:off x="1077097" y="3645664"/>
            <a:ext cx="7083729" cy="2606049"/>
          </a:xfrm>
          <a:prstGeom prst="rect">
            <a:avLst/>
          </a:prstGeom>
        </p:spPr>
      </p:pic>
      <p:sp>
        <p:nvSpPr>
          <p:cNvPr id="6" name="內容版面配置區 10">
            <a:extLst>
              <a:ext uri="{FF2B5EF4-FFF2-40B4-BE49-F238E27FC236}">
                <a16:creationId xmlns:a16="http://schemas.microsoft.com/office/drawing/2014/main" id="{7A906115-5F01-AAA7-1E37-4EB925EEF3B0}"/>
              </a:ext>
            </a:extLst>
          </p:cNvPr>
          <p:cNvSpPr txBox="1">
            <a:spLocks/>
          </p:cNvSpPr>
          <p:nvPr/>
        </p:nvSpPr>
        <p:spPr>
          <a:xfrm>
            <a:off x="838200" y="1469995"/>
            <a:ext cx="859412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Require Power BI service then upload the files to the workspace</a:t>
            </a:r>
          </a:p>
          <a:p>
            <a:endParaRPr lang="en-US" altLang="zh-TW" dirty="0"/>
          </a:p>
          <a:p>
            <a:r>
              <a:rPr lang="en-US" altLang="zh-TW" dirty="0"/>
              <a:t>Consult IT services in UQ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96451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656</Words>
  <Application>Microsoft Office PowerPoint</Application>
  <PresentationFormat>寬螢幕</PresentationFormat>
  <Paragraphs>115</Paragraphs>
  <Slides>27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佈景主題</vt:lpstr>
      <vt:lpstr>NPS Dashboard  and data update manual</vt:lpstr>
      <vt:lpstr>Outline</vt:lpstr>
      <vt:lpstr>Dashboard operation</vt:lpstr>
      <vt:lpstr>Dashboard Interface (Page 1)</vt:lpstr>
      <vt:lpstr>Dashboard Interface (Page 1)</vt:lpstr>
      <vt:lpstr>Dashboard Interface (Page 1)</vt:lpstr>
      <vt:lpstr>Dashboard Interface (Page 1)</vt:lpstr>
      <vt:lpstr>Dashboard Interface (Page 1)</vt:lpstr>
      <vt:lpstr>Dashboard Interface (Page 1)</vt:lpstr>
      <vt:lpstr>Dashboard Interface (Page 2)</vt:lpstr>
      <vt:lpstr>Dashboard Interface (Page 2)</vt:lpstr>
      <vt:lpstr>Methods to select specific country  </vt:lpstr>
      <vt:lpstr>Methods to select specific country  </vt:lpstr>
      <vt:lpstr>Methods to select specific country  </vt:lpstr>
      <vt:lpstr>Clear Selection</vt:lpstr>
      <vt:lpstr>How to update data</vt:lpstr>
      <vt:lpstr>Data Spreadsheet (Main)</vt:lpstr>
      <vt:lpstr>Data Spreadsheet (Site)</vt:lpstr>
      <vt:lpstr>Data Spreadsheet (Compounds)</vt:lpstr>
      <vt:lpstr>Insert a new record</vt:lpstr>
      <vt:lpstr>Delete the unwanted record</vt:lpstr>
      <vt:lpstr>Update data</vt:lpstr>
      <vt:lpstr>Data source setting</vt:lpstr>
      <vt:lpstr>Data source setting</vt:lpstr>
      <vt:lpstr>Beware</vt:lpstr>
      <vt:lpstr>Publish Dashboard</vt:lpstr>
      <vt:lpstr>Publish the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Fang</dc:creator>
  <cp:lastModifiedBy>Kevin Fang</cp:lastModifiedBy>
  <cp:revision>6</cp:revision>
  <dcterms:created xsi:type="dcterms:W3CDTF">2026-02-11T01:58:12Z</dcterms:created>
  <dcterms:modified xsi:type="dcterms:W3CDTF">2026-02-12T01:40:30Z</dcterms:modified>
</cp:coreProperties>
</file>